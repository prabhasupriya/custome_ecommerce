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21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9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7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5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02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1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3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48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8303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8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949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2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62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55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1E4AF-7DFA-476E-A80F-7CBF5633E39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F6347C-1478-4C3E-A50F-7FE3E4C6D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84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4DC3-89DE-F0E6-F9F3-7BFC6901F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05" y="192505"/>
            <a:ext cx="11823031" cy="1844842"/>
          </a:xfrm>
        </p:spPr>
        <p:txBody>
          <a:bodyPr/>
          <a:lstStyle/>
          <a:p>
            <a:r>
              <a:rPr lang="en-IN" b="1" i="1">
                <a:solidFill>
                  <a:srgbClr val="FFC000"/>
                </a:solidFill>
              </a:rPr>
              <a:t>E-commerce Customer Churn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E7A5-60FF-988F-3481-37701883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4232"/>
            <a:ext cx="9144000" cy="2883568"/>
          </a:xfrm>
        </p:spPr>
        <p:txBody>
          <a:bodyPr>
            <a:normAutofit/>
          </a:bodyPr>
          <a:lstStyle/>
          <a:p>
            <a:r>
              <a:rPr lang="en-IN" sz="2800" b="1">
                <a:solidFill>
                  <a:srgbClr val="00B0F0"/>
                </a:solidFill>
              </a:rPr>
              <a:t>Data Science Final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1F673-A963-2270-A9CE-DA6C6E98008A}"/>
              </a:ext>
            </a:extLst>
          </p:cNvPr>
          <p:cNvSpPr txBox="1"/>
          <p:nvPr/>
        </p:nvSpPr>
        <p:spPr>
          <a:xfrm flipH="1">
            <a:off x="834188" y="4154905"/>
            <a:ext cx="83258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6"/>
                </a:solidFill>
              </a:rPr>
              <a:t>Presented by: BANDARU PRABHA SUPRIYA</a:t>
            </a:r>
          </a:p>
          <a:p>
            <a:r>
              <a:rPr lang="en-US" sz="2800">
                <a:solidFill>
                  <a:schemeClr val="accent6"/>
                </a:solidFill>
              </a:rPr>
              <a:t>Student ID: 23A91A6106</a:t>
            </a:r>
          </a:p>
          <a:p>
            <a:r>
              <a:rPr lang="en-US" sz="2800">
                <a:solidFill>
                  <a:schemeClr val="accent6"/>
                </a:solidFill>
              </a:rPr>
              <a:t>March 2026</a:t>
            </a:r>
            <a:endParaRPr lang="en-IN" sz="28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5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93B7-9D93-1E2F-9B8A-D8B840C4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00B050"/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75A1E-1958-F2BD-6289-FBFA6B6B1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43" y="1488613"/>
            <a:ext cx="10327551" cy="5104692"/>
          </a:xfrm>
        </p:spPr>
        <p:txBody>
          <a:bodyPr>
            <a:normAutofit/>
          </a:bodyPr>
          <a:lstStyle/>
          <a:p>
            <a:r>
              <a:rPr lang="en-US" b="1"/>
              <a:t>Addressing the Cost of Customer Churn</a:t>
            </a:r>
            <a:endParaRPr lang="en-US"/>
          </a:p>
          <a:p>
            <a:r>
              <a:rPr lang="en-US" b="1"/>
              <a:t>The Financial Impact:</a:t>
            </a:r>
            <a:r>
              <a:rPr lang="en-US"/>
              <a:t> In the competitive e-commerce landscape, acquiring a new customer is significantly more expensive than retaining an existing one. High churn rates directly erode profit margins.</a:t>
            </a:r>
          </a:p>
          <a:p>
            <a:r>
              <a:rPr lang="en-US" b="1"/>
              <a:t>Current Situation:</a:t>
            </a:r>
            <a:r>
              <a:rPr lang="en-US"/>
              <a:t> Our analysis reveals a </a:t>
            </a:r>
            <a:r>
              <a:rPr lang="en-US" b="1"/>
              <a:t>28.09% churn rate</a:t>
            </a:r>
            <a:r>
              <a:rPr lang="en-US"/>
              <a:t>. This means nearly 1 out of every 3 customers is effectively "leaving" the platform after their initial engagement.</a:t>
            </a:r>
          </a:p>
          <a:p>
            <a:r>
              <a:rPr lang="en-US" b="1"/>
              <a:t>Objective:</a:t>
            </a:r>
            <a:r>
              <a:rPr lang="en-US"/>
              <a:t> We aim to transition from reactive to proactive management. By using Machine Learning to predict churn up to 3 months in advance, we can trigger automated, targeted retention campaigns.</a:t>
            </a:r>
          </a:p>
          <a:p>
            <a:r>
              <a:rPr lang="en-US" b="1"/>
              <a:t>Targeted Strategy:</a:t>
            </a:r>
            <a:r>
              <a:rPr lang="en-US"/>
              <a:t> Instead of mass-marketing, we will offer a </a:t>
            </a:r>
            <a:r>
              <a:rPr lang="en-US" b="1"/>
              <a:t>10% discount</a:t>
            </a:r>
            <a:r>
              <a:rPr lang="en-US"/>
              <a:t> specifically to high-risk individuals, protecting revenue while optimizing marketing spend.</a:t>
            </a:r>
          </a:p>
          <a:p>
            <a:pPr marL="0" indent="0" algn="just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 E-commerce, losing a customer is expensive. Our data shows a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28.09% churn rate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meaning nearly 1 in 3 customers don't return. Our goal is to use Machine Learning to predict who will leave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they do, so we can save them with a 10% discount.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93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B3AF-16DF-0C78-D9F6-C0A39CFE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5CD3-2522-2BF2-6A4F-5A3708AC5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US" b="1"/>
              <a:t>Harnessing Large-Scale Retail Data</a:t>
            </a:r>
            <a:endParaRPr lang="en-US"/>
          </a:p>
          <a:p>
            <a:r>
              <a:rPr lang="en-US" b="1"/>
              <a:t>Primary Source:</a:t>
            </a:r>
            <a:r>
              <a:rPr lang="en-US"/>
              <a:t> This project utilizes the </a:t>
            </a:r>
            <a:r>
              <a:rPr lang="en-US" b="1"/>
              <a:t>Online Retail II dataset</a:t>
            </a:r>
            <a:r>
              <a:rPr lang="en-US"/>
              <a:t>, which captures real-world transactions from a UK-based non-store retail corporation.</a:t>
            </a:r>
          </a:p>
          <a:p>
            <a:r>
              <a:rPr lang="en-US" b="1"/>
              <a:t>Scale and Volume:</a:t>
            </a:r>
            <a:r>
              <a:rPr lang="en-US"/>
              <a:t> The raw dataset is massive, containing </a:t>
            </a:r>
            <a:r>
              <a:rPr lang="en-US" b="1"/>
              <a:t>over half a million (525,461) rows</a:t>
            </a:r>
            <a:r>
              <a:rPr lang="en-US"/>
              <a:t> of transaction data spanning two years.</a:t>
            </a:r>
          </a:p>
          <a:p>
            <a:r>
              <a:rPr lang="en-US" b="1"/>
              <a:t>Critical Challenges:</a:t>
            </a:r>
            <a:endParaRPr lang="en-US"/>
          </a:p>
          <a:p>
            <a:pPr lvl="1"/>
            <a:r>
              <a:rPr lang="en-US" b="1"/>
              <a:t>Identification Gaps:</a:t>
            </a:r>
            <a:r>
              <a:rPr lang="en-US"/>
              <a:t> Roughly </a:t>
            </a:r>
            <a:r>
              <a:rPr lang="en-US" b="1"/>
              <a:t>20% of the entries lacked a Customer ID</a:t>
            </a:r>
            <a:r>
              <a:rPr lang="en-US"/>
              <a:t>, requiring robust data cleaning and handling strategies to maintain data integrity.</a:t>
            </a:r>
          </a:p>
          <a:p>
            <a:pPr lvl="1"/>
            <a:r>
              <a:rPr lang="en-US" b="1"/>
              <a:t>Data Complexity:</a:t>
            </a:r>
            <a:r>
              <a:rPr lang="en-US"/>
              <a:t> The dataset includes complex variables like cancelled orders (indicated by "C" prefixes), varying unit prices, and multiple international shipping locations.</a:t>
            </a:r>
          </a:p>
          <a:p>
            <a:r>
              <a:rPr lang="en-US" b="1"/>
              <a:t>Target Variable Definition:</a:t>
            </a:r>
            <a:r>
              <a:rPr lang="en-US"/>
              <a:t> We engineered a binary classification target where </a:t>
            </a:r>
            <a:r>
              <a:rPr lang="en-US" b="1"/>
              <a:t>1 (Churned)</a:t>
            </a:r>
            <a:r>
              <a:rPr lang="en-US"/>
              <a:t> represents a customer who has not made a purchase within a defined window, and </a:t>
            </a:r>
            <a:r>
              <a:rPr lang="en-US" b="1"/>
              <a:t>0 (Active)</a:t>
            </a:r>
            <a:r>
              <a:rPr lang="en-US"/>
              <a:t> represents those who have remained engaged.</a:t>
            </a:r>
          </a:p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43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52B3-4CED-E7DC-B961-2DAE6B7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E3100C-8539-0DCD-D45F-25A4194C61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230" y="1930400"/>
            <a:ext cx="759571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is the foundation of any ML model. Our raw dataset contained many 'noisy' transactions, such as product returns (negative quantities) and administrative errors."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"We implemented an automated cleaning pipeline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5,254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duplicate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10,000+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cancelled orders to avoid bias.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out outliers where quantities were unrealistic."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"By the end, we retained 65% of the data, ensuring the model learned from 'clean' customer behaviors rather than data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8AA51-6676-7B03-0235-0B79D11A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914" y="568692"/>
            <a:ext cx="3604572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2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65A1-9F89-5B9C-61D7-38343A97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ENGINEERING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4BF58-B5F9-58E9-9E48-566850453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20" y="149034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/>
              <a:t>Raw data isn't enough. We created 30 new features. The most important were </a:t>
            </a:r>
            <a:r>
              <a:rPr lang="en-US" b="1"/>
              <a:t>Recency</a:t>
            </a:r>
            <a:r>
              <a:rPr lang="en-US"/>
              <a:t> (how many days since the last buy) and </a:t>
            </a:r>
            <a:r>
              <a:rPr lang="en-US" b="1"/>
              <a:t>Purchase Velocity</a:t>
            </a:r>
            <a:r>
              <a:rPr lang="en-US"/>
              <a:t> (how fast they are buying over time).</a:t>
            </a:r>
          </a:p>
          <a:p>
            <a:pPr marL="0" indent="0" algn="just">
              <a:buNone/>
            </a:pPr>
            <a:r>
              <a:rPr lang="en-US" b="1"/>
              <a:t>EVIDENCE :</a:t>
            </a:r>
          </a:p>
          <a:p>
            <a:r>
              <a:rPr lang="en-IN"/>
              <a:t>"feature_list": [</a:t>
            </a:r>
          </a:p>
          <a:p>
            <a:pPr marL="0" indent="0">
              <a:buNone/>
            </a:pPr>
            <a:r>
              <a:rPr lang="en-IN"/>
              <a:t>"CustomerID", "Churn","Recency", "Frequency","TotalSpent","AvgOrderValue","UniqueProducts","TotalItems“,</a:t>
            </a:r>
          </a:p>
          <a:p>
            <a:pPr marL="0" indent="0">
              <a:buNone/>
            </a:pPr>
            <a:r>
              <a:rPr lang="en-IN"/>
              <a:t>"AvgDaysBetweenPurchases“, "AvgBasketSize", "StdBasketSize","MaxBasketSize","PreferredDay","PreferredHour","CountryDiversity",</a:t>
            </a:r>
          </a:p>
          <a:p>
            <a:pPr marL="0" indent="0">
              <a:buNone/>
            </a:pPr>
            <a:r>
              <a:rPr lang="en-IN"/>
              <a:t>"CustomerLifetimeDays","PurchaseVelocity", "Purchases_Last30Days","Purchases_Last60Days“,"Purchases_Last90Days",</a:t>
            </a:r>
          </a:p>
          <a:p>
            <a:pPr marL="0" indent="0">
              <a:buNone/>
            </a:pPr>
            <a:r>
              <a:rPr lang="en-IN"/>
              <a:t>"ProductDiversityScore","TotalUniqueProducts“,"AvgPricePreference","StdPricePreference""MinPrice","MaxPrice","AvgQuantityPerOrder",</a:t>
            </a:r>
          </a:p>
          <a:p>
            <a:pPr marL="0" indent="0">
              <a:buNone/>
            </a:pPr>
            <a:r>
              <a:rPr lang="en-IN"/>
              <a:t>"RecencyScore","FrequencyScore","MonetaryScore","RFM_Score","CustomerSegment“</a:t>
            </a:r>
          </a:p>
          <a:p>
            <a:pPr marL="0" indent="0">
              <a:buNone/>
            </a:pPr>
            <a:r>
              <a:rPr lang="en-IN"/>
              <a:t>   ],</a:t>
            </a:r>
          </a:p>
          <a:p>
            <a:pPr marL="0" indent="0" algn="just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12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4935-1F9F-2990-D25F-729A645C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28A8E-8D43-3F52-0FFB-D693FD27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I didn't just pick one model. I tested four. While Logistic Regression is a good baseline, </a:t>
            </a:r>
            <a:r>
              <a:rPr lang="en-US" sz="2400" b="1"/>
              <a:t>XGBoost</a:t>
            </a:r>
            <a:r>
              <a:rPr lang="en-US" sz="2400"/>
              <a:t> was the clear winner because it handles the complex 'Mass energy' behavior of e-commerce shoppers best</a:t>
            </a:r>
          </a:p>
          <a:p>
            <a:pPr marL="0" indent="0">
              <a:buNone/>
            </a:pPr>
            <a:r>
              <a:rPr lang="en-US" sz="2400" b="1"/>
              <a:t>EVIDENCE</a:t>
            </a:r>
          </a:p>
          <a:p>
            <a:pPr marL="0" indent="0">
              <a:buNone/>
            </a:pPr>
            <a:endParaRPr lang="en-IN" sz="2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FD48F-6A2C-BF48-B7CD-02AF69392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76581"/>
            <a:ext cx="10760372" cy="221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5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0AFB-F017-2010-EB7E-5B527D53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Champion Model: XGBoost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BD5DE84-A336-4EFC-DC83-DC70C4B4E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241" y="1773189"/>
            <a:ext cx="1070355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comparing five different architectures,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emerged as the superior solution. Unlike standard models, XGBoost uses 'Gradient Boosting' to focus on difficult-to-predict customers by iteratively correcting errors."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Deep-Dive: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ROC-AUC (0.84):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confirms the model has a very high probability of distinguishing a churner from an active user.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(0.71):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churn scenario,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is our most vital metric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means we catch 71% of all leaving customers.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"The model is optimized not just for accuracy, but for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Cost-Effectiveness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we don't miss the customers who are most likely to leave."</a:t>
            </a:r>
          </a:p>
        </p:txBody>
      </p:sp>
    </p:spTree>
    <p:extLst>
      <p:ext uri="{BB962C8B-B14F-4D97-AF65-F5344CB8AC3E}">
        <p14:creationId xmlns:p14="http://schemas.microsoft.com/office/powerpoint/2010/main" val="231706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A7DE-98CF-7D03-E217-2FE159F4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Performance 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A5DDBF-19AB-8CFF-4356-D7DFA64D0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7174" y="1855788"/>
            <a:ext cx="5673826" cy="3881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8A966-C826-B41C-4063-2415951B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3" y="1698983"/>
            <a:ext cx="5692878" cy="426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4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C318-06FA-44C6-47FD-8E818722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" y="283845"/>
            <a:ext cx="10515600" cy="1325563"/>
          </a:xfrm>
        </p:spPr>
        <p:txBody>
          <a:bodyPr/>
          <a:lstStyle/>
          <a:p>
            <a:r>
              <a:rPr lang="en-IN">
                <a:solidFill>
                  <a:schemeClr val="accent6"/>
                </a:solidFill>
              </a:rPr>
              <a:t>Business</a:t>
            </a:r>
            <a:r>
              <a:rPr lang="en-IN" b="1">
                <a:solidFill>
                  <a:schemeClr val="accent6"/>
                </a:solidFill>
              </a:rPr>
              <a:t> </a:t>
            </a:r>
            <a:r>
              <a:rPr lang="en-IN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IN" b="1">
                <a:solidFill>
                  <a:schemeClr val="accent6"/>
                </a:solidFill>
              </a:rPr>
              <a:t> </a:t>
            </a:r>
            <a:r>
              <a:rPr lang="en-IN">
                <a:solidFill>
                  <a:schemeClr val="accent6"/>
                </a:solidFill>
              </a:rPr>
              <a:t>Analysis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53C3D4-F875-68E7-011F-8D4CBD4E5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440" y="1572416"/>
            <a:ext cx="115468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 model is only as good as the money it saves. Based on our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of 71%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we can now proactively target the right people.“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57B7954-B2C3-190C-48A4-B34C88D95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2677178"/>
            <a:ext cx="8766311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Google Sans Text"/>
              </a:rPr>
              <a:t>Total Revenue at Risk:</a:t>
            </a:r>
            <a:r>
              <a:rPr lang="en-US" altLang="en-US">
                <a:latin typeface="Google Sans Text"/>
              </a:rPr>
              <a:t> $£1,404,500$ (Based on $2,809$ projected churners).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Targeting Efficiency: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our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71% Recall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we identify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1,994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at-risk customers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Retention Success: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By saving just 20% of those identified, we retain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399 customers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Financial Impact: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Revenue Protected: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$£199,500$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Campaign Cost: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$£19,940$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Net Monthly Profit: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$£179,560$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Conclusion: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model pays for its own development costs in the first month of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48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58DE-A8BB-2DAB-2570-3A8D28FA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2CF87-333C-97EC-754E-3AA351133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"We transitioned from a research environment to a production-ready system. The architecture is split into three layers:</a:t>
            </a:r>
          </a:p>
          <a:p>
            <a:r>
              <a:rPr lang="en-US" b="1"/>
              <a:t>Data Layer:</a:t>
            </a:r>
            <a:r>
              <a:rPr lang="en-US"/>
              <a:t> Dockerized volumes for raw and processed CSVs</a:t>
            </a:r>
          </a:p>
          <a:p>
            <a:r>
              <a:rPr lang="en-US" b="1"/>
              <a:t>UI Layer:</a:t>
            </a:r>
            <a:r>
              <a:rPr lang="en-US"/>
              <a:t> A </a:t>
            </a:r>
            <a:r>
              <a:rPr lang="en-US" b="1"/>
              <a:t>Streamlit</a:t>
            </a:r>
            <a:r>
              <a:rPr lang="en-US"/>
              <a:t> dashboard designed for non-technical stakeholders to upload customer lists and see immediate results.“</a:t>
            </a:r>
          </a:p>
          <a:p>
            <a:r>
              <a:rPr lang="en-US" b="1"/>
              <a:t>API Layer:</a:t>
            </a:r>
            <a:r>
              <a:rPr lang="en-US"/>
              <a:t> A high-performance </a:t>
            </a:r>
            <a:r>
              <a:rPr lang="en-US" b="1"/>
              <a:t>FastAPI</a:t>
            </a:r>
            <a:r>
              <a:rPr lang="en-US"/>
              <a:t> backend that provides real-time churn probabilities</a:t>
            </a:r>
          </a:p>
          <a:p>
            <a:r>
              <a:rPr lang="en-US"/>
              <a:t>"This setup ensures the model isn't just a 'script' but a tool that any manager can use.“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29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5915-0322-9E93-86BF-87A51D49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Learnings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3844-B691-1D02-BEED-7FE401524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Technical Hurdle:</a:t>
            </a:r>
            <a:r>
              <a:rPr lang="en-US"/>
              <a:t> "Managing environment dependencies was a challenge. We initially faced version conflicts with XGBoost and Scikit-Learn.“</a:t>
            </a:r>
          </a:p>
          <a:p>
            <a:r>
              <a:rPr lang="en-US" b="1"/>
              <a:t>The Solution:</a:t>
            </a:r>
            <a:r>
              <a:rPr lang="en-US"/>
              <a:t> "We implemented a </a:t>
            </a:r>
            <a:r>
              <a:rPr lang="en-US" b="1"/>
              <a:t>Docker-Compose</a:t>
            </a:r>
            <a:r>
              <a:rPr lang="en-US"/>
              <a:t> workflow. This 'containerized' our entire project, ensuring that the model runs exactly the same way on my machine as it will on a production server.“</a:t>
            </a:r>
          </a:p>
          <a:p>
            <a:r>
              <a:rPr lang="en-US" b="1"/>
              <a:t>Conclusion:</a:t>
            </a:r>
            <a:r>
              <a:rPr lang="en-US"/>
              <a:t> "The biggest takeaway was that </a:t>
            </a:r>
            <a:r>
              <a:rPr lang="en-US" b="1"/>
              <a:t>Feature Engineering</a:t>
            </a:r>
            <a:r>
              <a:rPr lang="en-US"/>
              <a:t> (like RFM Velocity) is more impactful than hyperparameter tuning. Understanding customer behavior is what truly drives model accuracy."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44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08C1-5341-B69D-68FA-21B9C3EB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0" y="88328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743DB-5DA2-D89B-7CBD-0B1956716909}"/>
              </a:ext>
            </a:extLst>
          </p:cNvPr>
          <p:cNvSpPr txBox="1"/>
          <p:nvPr/>
        </p:nvSpPr>
        <p:spPr>
          <a:xfrm>
            <a:off x="640080" y="2509520"/>
            <a:ext cx="900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</a:t>
            </a:r>
            <a:r>
              <a:rPr lang="en-IN"/>
              <a:t>INK FOR GIT HUB :https://github.com/prabhasupriya/custome_ecommerce.git</a:t>
            </a:r>
          </a:p>
          <a:p>
            <a:r>
              <a:rPr lang="en-IN"/>
              <a:t>CONTACT : 23a91a6106@aec.edu.in</a:t>
            </a:r>
          </a:p>
        </p:txBody>
      </p:sp>
    </p:spTree>
    <p:extLst>
      <p:ext uri="{BB962C8B-B14F-4D97-AF65-F5344CB8AC3E}">
        <p14:creationId xmlns:p14="http://schemas.microsoft.com/office/powerpoint/2010/main" val="12854201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</TotalTime>
  <Words>1072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Google Sans Text</vt:lpstr>
      <vt:lpstr>Times New Roman</vt:lpstr>
      <vt:lpstr>Trebuchet MS</vt:lpstr>
      <vt:lpstr>Wingdings 3</vt:lpstr>
      <vt:lpstr>Facet</vt:lpstr>
      <vt:lpstr>E-commerce Customer Churn Prediction</vt:lpstr>
      <vt:lpstr>Business Problem</vt:lpstr>
      <vt:lpstr>Dataset Overview</vt:lpstr>
      <vt:lpstr>Data Cleaning &amp; Validation</vt:lpstr>
      <vt:lpstr>FEATURE ENGINEERING</vt:lpstr>
      <vt:lpstr>Model Comparison</vt:lpstr>
      <vt:lpstr>Champion Model: XGBoost</vt:lpstr>
      <vt:lpstr>Technical Performance Visuals</vt:lpstr>
      <vt:lpstr>Business Impact Analysis</vt:lpstr>
      <vt:lpstr>Deployment &amp; Architecture</vt:lpstr>
      <vt:lpstr>Key Learnings &amp; 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 Bandaru</dc:creator>
  <cp:lastModifiedBy>Mouni Bandaru</cp:lastModifiedBy>
  <cp:revision>4</cp:revision>
  <dcterms:created xsi:type="dcterms:W3CDTF">2026-03-23T17:34:12Z</dcterms:created>
  <dcterms:modified xsi:type="dcterms:W3CDTF">2026-03-25T06:46:48Z</dcterms:modified>
</cp:coreProperties>
</file>